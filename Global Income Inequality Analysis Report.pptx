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7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8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7" d="100"/>
          <a:sy n="67" d="100"/>
        </p:scale>
        <p:origin x="-1476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43552-37E6-4380-8F1F-C61478094AD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6C802-8754-4659-ACE9-8EC52050D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18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6C802-8754-4659-ACE9-8EC52050D8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611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07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48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20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5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13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38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8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42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44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74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A904F-262B-4E6D-B6A1-AF40F0904F3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3025B-496E-409E-80A4-8D3698F10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2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750671"/>
            <a:ext cx="7772400" cy="1899642"/>
          </a:xfrm>
        </p:spPr>
        <p:txBody>
          <a:bodyPr>
            <a:noAutofit/>
          </a:bodyPr>
          <a:lstStyle/>
          <a:p>
            <a:r>
              <a:rPr lang="en-IN" sz="5400" dirty="0">
                <a:latin typeface="Times New Roman" pitchFamily="18" charset="0"/>
                <a:cs typeface="Times New Roman" pitchFamily="18" charset="0"/>
              </a:rPr>
              <a:t>Global Income Inequality Analysis</a:t>
            </a:r>
            <a:br>
              <a:rPr lang="en-IN" sz="5400" dirty="0">
                <a:latin typeface="Times New Roman" pitchFamily="18" charset="0"/>
                <a:cs typeface="Times New Roman" pitchFamily="18" charset="0"/>
              </a:rPr>
            </a:br>
            <a:endParaRPr lang="en-IN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7704" y="5661248"/>
            <a:ext cx="5824736" cy="84388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By-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Shruti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Awarkar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272" y="2348880"/>
            <a:ext cx="5897563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168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12776"/>
            <a:ext cx="4572000" cy="4062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18864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Distribution of Income Inequality Across Countries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8961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Distribution of Income Inequality Across Countries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916832"/>
            <a:ext cx="4572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highest concentration of countries lies around 30–35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indicating that most countries have moderate levels of income inequality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2.There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another noticeable concentration in the 40–50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range, showing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that a significant number of countries experience high inequality levels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distribution also has a long right tail extending up to 70–80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which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indicates that very high inequality exists but is limited to a few countries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en-US" dirty="0"/>
              <a:t> </a:t>
            </a:r>
            <a:r>
              <a:rPr lang="en-US" dirty="0" smtClean="0"/>
              <a:t>The lowest </a:t>
            </a:r>
            <a:r>
              <a:rPr lang="en-US" dirty="0"/>
              <a:t>section of the chart (the far left, between 15 and 25 </a:t>
            </a:r>
            <a:r>
              <a:rPr lang="en-US" dirty="0" err="1"/>
              <a:t>Gin</a:t>
            </a:r>
            <a:r>
              <a:rPr lang="en-US" b="1" dirty="0" err="1"/>
              <a:t>i</a:t>
            </a:r>
            <a:r>
              <a:rPr lang="en-US" dirty="0"/>
              <a:t>) 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71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225695"/>
            <a:ext cx="4932040" cy="414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31161" y="209227"/>
            <a:ext cx="78245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Regional Income Inequality (Average </a:t>
            </a:r>
            <a:r>
              <a:rPr lang="en-IN" sz="3200" b="1" dirty="0" err="1" smtClean="0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103" y="1118498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Regional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Income Inequality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(Average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3" y="2007833"/>
            <a:ext cx="4107665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1.The Inequality Leaders: Africa and the Americas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Highest Levels: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 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Africa (~47.5) and</a:t>
            </a:r>
            <a:r>
              <a:rPr kumimoji="0" lang="en-US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   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 Americas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(~47.0)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are the most unequal regions in the world.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07503" y="5030019"/>
            <a:ext cx="4107665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A0A0A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.The Global Floor: Europe 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Lowest Levels: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Europe has the lowest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average </a:t>
            </a:r>
            <a:r>
              <a:rPr kumimoji="0" lang="en-US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coefficient (~32.0).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7503" y="3645024"/>
            <a:ext cx="4104456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rgbClr val="0A0A0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.The Middle Ground: Asia and Oceania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Moderate Inequality: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Asia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(~36.5)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and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Oceania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(~35.5) sit in the middle of the spectrum.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15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628" y="1484784"/>
            <a:ext cx="4674605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3528" y="332656"/>
            <a:ext cx="88204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Regions with Highest Average Income Inequality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40" y="1130842"/>
            <a:ext cx="44046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Regions with Highest Average Income Inequality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3" y="2132856"/>
            <a:ext cx="4165995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1.The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High Inequality Tier: Africa  &amp; the  Americas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 Leaders: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Africa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and 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Americas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are virtually tied at the top, both hovering near an average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of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47.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7503" y="3620103"/>
            <a:ext cx="4165995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2.The Moderate Tier: Asia &amp; Oceania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 Middle Ground: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Asia (~37) and Oceania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(~35) occupy the middle of the ranking.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8991" y="4941168"/>
            <a:ext cx="4154508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3.The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Benchmark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Region: Europe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 Lowest: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Europe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stands out with the lowest average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coefficient (~32).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84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649" y="1700807"/>
            <a:ext cx="4813308" cy="374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3568" y="476672"/>
            <a:ext cx="77048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Income Distribution Pattern by Region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867" y="1064146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Income Distribution Pattern by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Region</a:t>
            </a: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4016" y="1800826"/>
            <a:ext cx="418954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1.Europe: The Gold Standard of Consistency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Europe has the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lowest median (~31) and the narrowest box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(Interquartile Range).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7095" y="4237931"/>
            <a:ext cx="4176464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3.Africa: The Widest Internal Divide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Africa has 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largest box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and the longest whiskers, with values stretching from ~22 to nearly 80.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47820" y="2852936"/>
            <a:ext cx="4185739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2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 Americas: A High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Inequality Floor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While Africa has a higher outlier, 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entire box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for the Americas is shifted higher up the scale (median ~48).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44016" y="5473005"/>
            <a:ext cx="418954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4.Asia &amp; Oceania: Moderate but 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Spiky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Both regions have relatively low medians (~33–35), but they are characterized by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extreme high 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25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39" y="1844824"/>
            <a:ext cx="4679161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489255" y="311679"/>
            <a:ext cx="68407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3200" b="1" dirty="0" smtClean="0">
                <a:latin typeface="Times New Roman" pitchFamily="18" charset="0"/>
                <a:cs typeface="Times New Roman" pitchFamily="18" charset="0"/>
              </a:rPr>
              <a:t>GDP </a:t>
            </a:r>
            <a:r>
              <a:rPr lang="it-IT" sz="3200" b="1" dirty="0">
                <a:latin typeface="Times New Roman" pitchFamily="18" charset="0"/>
                <a:cs typeface="Times New Roman" pitchFamily="18" charset="0"/>
              </a:rPr>
              <a:t>per Capita vs Income Inequality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127" y="1136938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: GDP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 Capita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Income Inequality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6753" y="1955257"/>
            <a:ext cx="4355976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rgbClr val="0A0A0A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 Wealthy Stability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Zone (High GDP)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1.As GDP per capita increases (moving right on the x-axis, beyond $60,000), the variation in inequality narrows significantly.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2.Almost all high-income nations cluster between a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of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25 and 45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. You will notice there are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zero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countries with a GDP over $60,000 that have a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coefficient above 50.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6752" y="4452943"/>
            <a:ext cx="4355976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2.The Volatility Zone (Low GDP)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 smtClean="0">
                <a:solidFill>
                  <a:srgbClr val="0A0A0A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A0A0A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At lower income levels (under $20,000), the data points are scattered across the entire vertical axis (from 15 to 80).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727" y="551723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2.Some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low-GDP nations are among the most equal in the world, while others are the most unequal.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7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514" y="1844823"/>
            <a:ext cx="4452486" cy="3040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07704" y="476670"/>
            <a:ext cx="5905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Inequality Across Income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9514" y="126876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Inequality Across Income Group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9515" y="1976646"/>
            <a:ext cx="4572000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1.Upper Middle Income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Upper Middle Income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group has 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highest median </a:t>
            </a:r>
            <a:r>
              <a:rPr kumimoji="0" lang="en-US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coefficient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(around 46).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9514" y="2924944"/>
            <a:ext cx="4572000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High Income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High Income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group has 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lowest median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(around 33) and the most compact box (the smallest Interquartile Range).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893" y="4237542"/>
            <a:ext cx="43162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3.Low Income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Lower Middle Income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Moderate-High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inequality (~43</a:t>
            </a:r>
            <a:r>
              <a:rPr lang="en-US" dirty="0"/>
              <a:t>).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7865" y="487709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Low and Lower Middle Income groups contain the most extreme cases, with outliers reaching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scores near 80.</a:t>
            </a:r>
          </a:p>
        </p:txBody>
      </p:sp>
    </p:spTree>
    <p:extLst>
      <p:ext uri="{BB962C8B-B14F-4D97-AF65-F5344CB8AC3E}">
        <p14:creationId xmlns:p14="http://schemas.microsoft.com/office/powerpoint/2010/main" val="382398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901" y="1950134"/>
            <a:ext cx="5043917" cy="286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-4401" y="1124744"/>
            <a:ext cx="39205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Inequality Comparison Across Income Groups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519" y="332656"/>
            <a:ext cx="87849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Inequality Comparison Across Income Groups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2219585"/>
            <a:ext cx="3888432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1.The High-Income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There is a sharp, noticeable drop in inequality for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High Income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nations (Average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~35) compared to all other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9767" y="3853689"/>
            <a:ext cx="3916169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2.Low to Upper-Middle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 average inequality for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Low Income, Lower Middle, and Upper Middle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groups is remarkably similar, hovering between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42 and 44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9767" y="5517232"/>
            <a:ext cx="4126901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3.The 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Upper Middle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Upper Middle Income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countries have an almost identical average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(~44).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22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46" y="1655428"/>
            <a:ext cx="5072054" cy="270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216" y="1255311"/>
            <a:ext cx="49023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Income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Inequality by Country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13033" y="260648"/>
            <a:ext cx="55066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Income Inequality by Country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7020" y="1833413"/>
            <a:ext cx="3851920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1.Canada and the United States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sit at the top of this list, with scores exceeding 12,000.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212.,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020" y="2636912"/>
            <a:ext cx="3851920" cy="27699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2.Germany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(~9,000) and the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UK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(~7,400) represent the higher end of inequality within this European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3.Italy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,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Denmark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, and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Norway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fall into a middle-to-low tier.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4.Luxembourg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stands out as the most equal in this set, with a score nearly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four times lower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than Canada's.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567" y="486916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5.Norway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Denmark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Finland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are all clustered toward the lower end of the spectrum (between 4,800 and 7,500).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723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8790267" cy="3345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5317" y="404664"/>
            <a:ext cx="77349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Income Inequality Trend by Income Group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504" y="4293096"/>
            <a:ext cx="71287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Income Inequality Trend by Income Group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441" y="4737554"/>
            <a:ext cx="87343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1.Since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1980s, High-income nations (Blue line) have consistently maintained the lowest and most stable inequality levels (~35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2.Low-income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countries (Orange line) show the most in inequality during the 1990s.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Lower-middle-income group reached the highest inequality in the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70) around 1950.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4.Since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2000, High-income nations are significantly more equal (35) than everyone else (45).</a:t>
            </a:r>
          </a:p>
        </p:txBody>
      </p:sp>
    </p:spTree>
    <p:extLst>
      <p:ext uri="{BB962C8B-B14F-4D97-AF65-F5344CB8AC3E}">
        <p14:creationId xmlns:p14="http://schemas.microsoft.com/office/powerpoint/2010/main" val="2740285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12" y="1719033"/>
            <a:ext cx="4490488" cy="2502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31451" y="260648"/>
            <a:ext cx="82089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Distribution of Income Inequality by Income Group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41" y="136509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Distribution of Income Inequality by Income Group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2072976"/>
            <a:ext cx="4572000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1.Upper Middle Income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Upper Middle Income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group has 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highest median </a:t>
            </a:r>
            <a:r>
              <a:rPr kumimoji="0" lang="en-US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coefficient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(roughly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46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7504" y="2996952"/>
            <a:ext cx="4572000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2.High Income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High Income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group (green box) has the 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lowest median (roughly 33) and the most compact box.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49" y="4221087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Low Income: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High (~43)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Lower Middle: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Slightly lower (~41)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Upper Middle: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Peaks at the highest (~46)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High Income: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Drops significantly (~33)</a:t>
            </a:r>
          </a:p>
        </p:txBody>
      </p:sp>
    </p:spTree>
    <p:extLst>
      <p:ext uri="{BB962C8B-B14F-4D97-AF65-F5344CB8AC3E}">
        <p14:creationId xmlns:p14="http://schemas.microsoft.com/office/powerpoint/2010/main" val="1820343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" y="980728"/>
            <a:ext cx="8560252" cy="331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806182" y="260648"/>
            <a:ext cx="7933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Countries with Consistently High Inequality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7805" y="4519685"/>
            <a:ext cx="72788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nsight : Countries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with Consistently High Inequality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7805" y="4945533"/>
            <a:ext cx="7810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1.Lesotho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ranks as the most unequal country in this set, with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score approaching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60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7805" y="5586492"/>
            <a:ext cx="684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2.Very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country on this list has an average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score above 50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512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95915"/>
            <a:ext cx="8676456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827584" y="188640"/>
            <a:ext cx="73083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Countries with High Inequality Fluctuations Over Time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9512" y="4543418"/>
            <a:ext cx="5616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ey Insight: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Countries with High Inequality Fluctuations Over Time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7540" y="5155108"/>
            <a:ext cx="84071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1.Zimbabwe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(purple line) reached the highest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coefficient in the entire chart, peaking at over 70 in the mid-1990s.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2.Most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these countries (especially Mali, Burkina Faso, and Zimbabwe) experienced their most in inequality between 1990 and 2000.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3.Since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year 2000, nearly all countries shown (Iraq, Mali, Burkina Faso) have seen a downward trend 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72" y="1324939"/>
            <a:ext cx="8676456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247721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Top 10 Countries with Most Equal Income Distribution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3772" y="4412675"/>
            <a:ext cx="64807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Key Insight: Top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10 Countries with Most Equal Income Distribution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7496" y="5120561"/>
            <a:ext cx="86043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1.Czechoslovakia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the most equal entity in this list, with an exceptionally low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score of 20.6.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2.Most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other top countries (like Slovakia, Soviet Union, and Yugoslavia) are tightly clustered between 26 and 28.5.</a:t>
            </a:r>
          </a:p>
        </p:txBody>
      </p:sp>
    </p:spTree>
    <p:extLst>
      <p:ext uri="{BB962C8B-B14F-4D97-AF65-F5344CB8AC3E}">
        <p14:creationId xmlns:p14="http://schemas.microsoft.com/office/powerpoint/2010/main" val="83594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9" y="1268760"/>
            <a:ext cx="8931219" cy="3586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3528" y="50095"/>
            <a:ext cx="84249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Top 10 Countries with Highest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and Lowest Inequality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7524" y="5805264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1.Highest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Inequality: South Africa has the highest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score (above 60).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2.Lowest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Inequality: Czechoslovakia is the most equal (~21).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512" y="5013176"/>
            <a:ext cx="73448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Key Insight: Top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10 Countries with Highest and Lowest Inequality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198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690" y="1412776"/>
            <a:ext cx="4396310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11560" y="332656"/>
            <a:ext cx="79044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Global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Income Inequality Trend Over Time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38477"/>
            <a:ext cx="47961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Key Insight: Global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Income Inequality Trend Over Time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6157" y="1645735"/>
            <a:ext cx="4542595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1.(1860–1940)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 Before the 1940s, global inequality was extreme and wildly volatile, frequently peaking near a 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of 60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988" y="2780928"/>
            <a:ext cx="4563764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2. (1940–1950)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During the 1940s, where the global average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Gini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dropped to its historical low of approximately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29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6158" y="3707191"/>
            <a:ext cx="4563764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A0A0A"/>
                </a:solidFill>
                <a:latin typeface="Times New Roman" pitchFamily="18" charset="0"/>
                <a:cs typeface="Times New Roman" pitchFamily="18" charset="0"/>
              </a:rPr>
              <a:t>3.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 (1980–2000)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After reaching a localized low in the early 1980s (~33), inequality began a steady climb upward for two decades, peaking again around the year 2000 (~42).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6157" y="5157192"/>
            <a:ext cx="4563764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.(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2000–Present)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Since 2000, the line has "smoothed out" significantly, hovering consistently between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38 and 40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29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036496" cy="3542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61096" y="332656"/>
            <a:ext cx="6075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Population </a:t>
            </a: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  Income </a:t>
            </a: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Inequality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520" y="4848019"/>
            <a:ext cx="52854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Key Insight: Population 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Income Inequality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360" y="5264103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There is no strong relationship between population size and income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inequality.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populated countries do not necessarily exhibit higher inequality levels, as inequality is primarily influenced by economic development, government policies, and social factors rather than population size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211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</TotalTime>
  <Words>889</Words>
  <Application>Microsoft Office PowerPoint</Application>
  <PresentationFormat>On-screen Show (4:3)</PresentationFormat>
  <Paragraphs>123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Global Income Inequality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32</cp:revision>
  <dcterms:created xsi:type="dcterms:W3CDTF">2026-04-02T15:51:02Z</dcterms:created>
  <dcterms:modified xsi:type="dcterms:W3CDTF">2026-04-08T14:25:46Z</dcterms:modified>
</cp:coreProperties>
</file>